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0:30</a:t>
            </a:r>
          </a:p>
          <a:p/>
          <a:p>
            <a:r>
              <a:t>• Begrüßung: „Frau Williams, schön, dass Sie da sind.“</a:t>
            </a:r>
          </a:p>
          <a:p>
            <a:r>
              <a:t>• Ziel: In 10 Minuten zeigen, wann Sie Ihre Häuser im Zentrum am besten verkaufen, ob sich eine Renovierung lohnt und wo Sie am Stadtrand günstig und unauffällig wohnen können.</a:t>
            </a:r>
          </a:p>
          <a:p>
            <a:r>
              <a:t>• Grundlage: echte Verkaufsdaten aus King County, also Seattle und Umgebung.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0:45</a:t>
            </a:r>
          </a:p>
          <a:p/>
          <a:p>
            <a:r>
              <a:t>• Ihre Situation: Sie verkaufen nach und nach mehrere teure Häuser im Zentrum und brauchen gleichzeitig unauffällige Häuser am Stadtrand.</a:t>
            </a:r>
          </a:p>
          <a:p>
            <a:r>
              <a:t>• Daraus ergeben sich drei Fragen: Wann verkaufen? Renovieren oder nicht? Wo und wann kaufen?</a:t>
            </a:r>
          </a:p>
          <a:p>
            <a:r>
              <a:t>• Überleitung: „Bevor ich die Antworten zeige, kurz zur Datenbasis.“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0:45</a:t>
            </a:r>
          </a:p>
          <a:p/>
          <a:p>
            <a:r>
              <a:t>• Rund 21.600 Hausverkäufe über ein Jahr, von Mai 2014 bis Mai 2015.</a:t>
            </a:r>
          </a:p>
          <a:p>
            <a:r>
              <a:t>• Wir vergleichen den Preis pro m². So sind große und kleine Häuser fair vergleichbar.</a:t>
            </a:r>
          </a:p>
          <a:p>
            <a:r>
              <a:t>• Definitionen: „zentral“ heißt bis etwa 10 km von Downtown, „Randlage“ ab etwa 25 km, „Top-Häuser“ sind die teuersten 10 %.</a:t>
            </a:r>
          </a:p>
          <a:p>
            <a:r>
              <a:t>• „Unauffällig“ heißt für uns: ein ganz normales Haus, ohne Wasserlage, ohne besondere Aussicht, mit mittlerem Preis und mittlerer Größe.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0:45</a:t>
            </a:r>
          </a:p>
          <a:p/>
          <a:p>
            <a:r>
              <a:t>• Wir sind mit drei Vermutungen gestartet: Frühling ist gut für den Verkauf, Renovieren bringt mehr Geld, weiter draußen ist es günstiger und unauffälliger.</a:t>
            </a:r>
          </a:p>
          <a:p>
            <a:r>
              <a:t>• Ehrliches Ergebnis: Alle drei stimmen nur teilweise.</a:t>
            </a:r>
          </a:p>
          <a:p>
            <a:r>
              <a:t>• Für Sie interessant sind gerade die Unterschiede. Überleitung: „Fangen wir mit dem Timing an.“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1:00</a:t>
            </a:r>
          </a:p>
          <a:p/>
          <a:p>
            <a:r>
              <a:t>• Kurve erklären: Jeder Punkt ist der typische Preis pro m² in einem Monat.</a:t>
            </a:r>
          </a:p>
          <a:p>
            <a:r>
              <a:t>• Höchster Wert im April, niedrigster im Dezember. Der Frühling liegt etwa 8 % über dem Winter.</a:t>
            </a:r>
          </a:p>
          <a:p>
            <a:r>
              <a:t>• Im Frühling gibt es fast doppelt so viele Verkäufe wie im Winter. Wer im Winter kauft, hat also weniger Konkurrenz.</a:t>
            </a:r>
          </a:p>
          <a:p>
            <a:r>
              <a:t>• Überleitung: „Das gilt für den Gesamtmarkt. Für Ihre Häuser sieht es aber anders aus.“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1:00</a:t>
            </a:r>
          </a:p>
          <a:p/>
          <a:p>
            <a:r>
              <a:t>• KERNFOLIE – kurz Pause machen.</a:t>
            </a:r>
          </a:p>
          <a:p>
            <a:r>
              <a:t>• Links, Ihre Top-Häuser im Zentrum: Es gibt keinen Frühlingsbonus. Winter und Frühling liegen gleichauf, nur im Herbst erzielen Sie etwa 7 % weniger.</a:t>
            </a:r>
          </a:p>
          <a:p>
            <a:r>
              <a:t>• Bei teuren Häusern in Top-Lage zählt die Lage, nicht die Jahreszeit.</a:t>
            </a:r>
          </a:p>
          <a:p>
            <a:r>
              <a:t>• Rechts, die Häuser, die Sie kaufen wollen: Im Winter sind sie etwa 8 % günstiger, also rund 366.000 $ statt 400.000 $.</a:t>
            </a:r>
          </a:p>
          <a:p>
            <a:r>
              <a:t>• Kernaussage: „Verkaufen Sie nicht im Herbst, und kaufen Sie im Winter.“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1:00</a:t>
            </a:r>
          </a:p>
          <a:p/>
          <a:p>
            <a:r>
              <a:t>• Links: Je besser die Bauqualität, desto mehr bringt eine Renovierung, von etwa +20 % bis +67 % pro m².</a:t>
            </a:r>
          </a:p>
          <a:p>
            <a:r>
              <a:t>• Rechts, Ihr Segment: Renovierte und nicht renovierte Top-Häuser im Zentrum kosten praktisch gleich viel, 4.610 $ gegenüber 4.558 $ pro m².</a:t>
            </a:r>
          </a:p>
          <a:p>
            <a:r>
              <a:t>• Der Grund: Bei Ihren Häusern bestimmt die Lage den Preis.</a:t>
            </a:r>
          </a:p>
          <a:p>
            <a:r>
              <a:t>• Empfehlung: Das Geld für eine Renovierung können Sie sich sparen.</a:t>
            </a:r>
          </a:p>
          <a:p>
            <a:r>
              <a:t>• Einschränkung: Was eine Renovierung kostet, zeigen die Daten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0:45</a:t>
            </a:r>
          </a:p>
          <a:p/>
          <a:p>
            <a:r>
              <a:t>• Das ist der stärkste Zusammenhang der ganzen Analyse.</a:t>
            </a:r>
          </a:p>
          <a:p>
            <a:r>
              <a:t>• Je weiter weg vom Zentrum, desto günstiger: von rund 3.700 $ auf rund 1.850 $ pro m², also etwa die Hälfte.</a:t>
            </a:r>
          </a:p>
          <a:p>
            <a:r>
              <a:t>• Das gilt im Norden und im Süden, der Süden ist aber bei gleicher Entfernung günstiger.</a:t>
            </a:r>
          </a:p>
          <a:p>
            <a:r>
              <a:t>• Überleitung: „Günstig ist also klar. Aber wo fallen Sie nicht auf?“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1:00</a:t>
            </a:r>
          </a:p>
          <a:p/>
          <a:p>
            <a:r>
              <a:t>• Karte erklären: Der Stern ist Downtown Seattle, die blauen Punkte sind Durchschnittshäuser am Stadtrand.</a:t>
            </a:r>
          </a:p>
          <a:p>
            <a:r>
              <a:t>• Überraschung: Am Stadtrand insgesamt gibt es nicht mehr Durchschnittshäuser als anderswo, nur etwa 19 %. Weit draußen allein macht Sie also nicht unauffällig.</a:t>
            </a:r>
          </a:p>
          <a:p>
            <a:r>
              <a:t>• Es kommt auf den Ort an: In Snoqualmie und Duvall sind über 40 % der Häuser Durchschnittshäuser. Dort fallen Sie in der Masse nicht auf.</a:t>
            </a:r>
          </a:p>
          <a:p>
            <a:r>
              <a:t>• Maple Valley hat die meisten passenden Häuser, also die größte Auswahl.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1:15</a:t>
            </a:r>
          </a:p>
          <a:p/>
          <a:p>
            <a:r>
              <a:t>• KERNFOLIE – langsam vortragen.</a:t>
            </a:r>
          </a:p>
          <a:p>
            <a:r>
              <a:t>• 1. Herbst meiden: Verkaufen Sie Ihre Top-Häuser im Winter oder Frühling.</a:t>
            </a:r>
          </a:p>
          <a:p>
            <a:r>
              <a:t>• 2. Nicht renovieren: In Ihrem Segment bringt eine Renovierung nichts Messbares.</a:t>
            </a:r>
          </a:p>
          <a:p>
            <a:r>
              <a:t>• 3. Im Winter kaufen: Am Stadtrand sparen Sie so etwa 8 %.</a:t>
            </a:r>
          </a:p>
          <a:p>
            <a:r>
              <a:t>• 4. Snoqualmie und Duvall: Dort fallen Sie am wenigsten auf. Für mehr Auswahl: Maple Valley.</a:t>
            </a:r>
          </a:p>
          <a:p>
            <a:r>
              <a:t>• Verbinden: „Verkaufen Sie gestaffelt im Winter und Frühling, und kaufen Sie im Winter am Stadtrand. So passt beides zeitlich zusammen.“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0:30</a:t>
            </a:r>
          </a:p>
          <a:p/>
          <a:p>
            <a:r>
              <a:t>• Die Daten umfassen nur ein Jahr. Ob sich das Muster jedes Jahr wiederholt, wissen wir nicht sicher.</a:t>
            </a:r>
          </a:p>
          <a:p>
            <a:r>
              <a:t>• Wir sehen Zusammenhänge, keine Ursachen.</a:t>
            </a:r>
          </a:p>
          <a:p>
            <a:r>
              <a:t>• Renovierungskosten und Verkaufsdauer fehlen in den Daten.</a:t>
            </a:r>
          </a:p>
          <a:p>
            <a:r>
              <a:t>• „Unauffällig“ ist unsere Definition, kein Merkmal der Daten.</a:t>
            </a:r>
          </a:p>
          <a:p>
            <a:r>
              <a:t>• Abschluss: „Vielen Dank, ich freue mich auf Ihre Fragen.“</a:t>
            </a:r>
          </a:p>
          <a:p/>
          <a:p>
            <a:r>
              <a:t>Mögliche Fragen:</a:t>
            </a:r>
          </a:p>
          <a:p>
            <a:r>
              <a:t>• „Gilt das auch für dieses Jahr?“ → Daten von 2014/15; Muster plausibel, sollte aber mit aktuellen Daten geprüft werden.</a:t>
            </a:r>
          </a:p>
          <a:p>
            <a:r>
              <a:t>• „Wie viele Häuser kann ich gleichzeitig verkaufen?“ → 940 Top-Verkäufe im Zentrum pro Jahr; mehrere Häuser über Winter und Frühling verteilt sind realistisch.</a:t>
            </a:r>
          </a:p>
          <a:p>
            <a:r>
              <a:t>• „Warum nicht einfach ganz weit raus?“ → Günstiger ja, aber nicht automatisch unauffälliger; der Ort entscheidet.</a:t>
            </a:r>
          </a:p>
          <a:p>
            <a:r>
              <a:t>• „Lohnt sich Renovierung bei den Häusern, die ich kaufe?“ → Ab Bauqualität 7 gab es einen Aufpreis, die Kosten kennen wir aber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Zeit: nur bei Nachfragen</a:t>
            </a:r>
          </a:p>
          <a:p/>
          <a:p>
            <a:r>
              <a:t>• Zeigen, wenn Fragen zu Investitionen oder Renovierung kommen.</a:t>
            </a:r>
          </a:p>
          <a:p>
            <a:r>
              <a:t>• 176 Häuser wurden innerhalb eines Jahres zweimal verkauft. Ihr Preis stieg im Median um 54 %, der Markt nur um 3 %.</a:t>
            </a:r>
          </a:p>
          <a:p>
            <a:r>
              <a:t>• Das waren meist ältere, günstige Häuser, typisch für Renovierungsobjekte. Ob dort wirklich renoviert wurde, zeigen die Daten allerdings nicht.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Arial"/>
              </a:rPr>
              <a:t>IMMOBILIENSTRATEGIE KING COUNTY (SEATTLE)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0B0B0B"/>
                </a:solidFill>
                <a:latin typeface="Arial"/>
              </a:rPr>
              <a:t>Im Zentrum gut verkaufen,</a:t>
            </a:r>
          </a:p>
          <a:p>
            <a:pPr algn="l">
              <a:spcAft>
                <a:spcPts val="0"/>
              </a:spcAft>
            </a:pPr>
            <a:r>
              <a:rPr sz="4400" b="1">
                <a:solidFill>
                  <a:srgbClr val="0B0B0B"/>
                </a:solidFill>
                <a:latin typeface="Arial"/>
              </a:rPr>
              <a:t>am Stadtrand unauffällig wohnen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023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52514E"/>
                </a:solidFill>
                <a:latin typeface="Arial"/>
              </a:rPr>
              <a:t>Datenbasierte Empfehlungen für Amy Williams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IHRE AUSGANGSLAGE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Drei Fragen, auf die Sie eine Antwort brauchen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0312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918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0B0B"/>
                </a:solidFill>
                <a:latin typeface="Arial"/>
              </a:rPr>
              <a:t>Verkaufen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84048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Arial"/>
              </a:rPr>
              <a:t>Wann verkaufe ich meine Top-Häuser im Zentrum zum besten Preis?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423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918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0B0B"/>
                </a:solidFill>
                <a:latin typeface="Arial"/>
              </a:rPr>
              <a:t>Renovieren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84048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Arial"/>
              </a:rPr>
              <a:t>Lohnt es sich, vor dem Verkauf zu renovieren?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03120"/>
            <a:ext cx="3429000" cy="310896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423160"/>
            <a:ext cx="914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2A78D6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291840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0B0B0B"/>
                </a:solidFill>
                <a:latin typeface="Arial"/>
              </a:rPr>
              <a:t>Kaufen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840480"/>
            <a:ext cx="27889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Arial"/>
              </a:rPr>
              <a:t>Wo und wann finde ich günstige, unauffällige Häuser am Stadtrand?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DATEN UND ANNAHMEN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Grundlage: über 21.000 Hausverkäufe aus einem Jahr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6596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21.597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Hausverkäufe in King County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9184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12 Monate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Mai 2014 bis Mai 2015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3840480" cy="132588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9834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Preis pro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577840"/>
            <a:ext cx="3383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als faire Vergleichsgröße zwischen Häusern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Unsere Annahmen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286000"/>
            <a:ext cx="649224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Zentrum: </a:t>
            </a:r>
            <a:r>
              <a:rPr sz="1500" b="0">
                <a:solidFill>
                  <a:srgbClr val="52514E"/>
                </a:solidFill>
                <a:latin typeface="Arial"/>
              </a:rPr>
              <a:t>Downtown Seattle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Zentral: </a:t>
            </a:r>
            <a:r>
              <a:rPr sz="1500" b="0">
                <a:solidFill>
                  <a:srgbClr val="52514E"/>
                </a:solidFill>
                <a:latin typeface="Arial"/>
              </a:rPr>
              <a:t>die 25 % der Häuser, die am nächsten am Zentrum liegen (bis ca. 10 km)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Randlage: </a:t>
            </a:r>
            <a:r>
              <a:rPr sz="1500" b="0">
                <a:solidFill>
                  <a:srgbClr val="52514E"/>
                </a:solidFill>
                <a:latin typeface="Arial"/>
              </a:rPr>
              <a:t>die 25 % der Häuser, die am weitesten entfernt liegen (ab ca. 25 km)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Top-Häuser: </a:t>
            </a:r>
            <a:r>
              <a:rPr sz="1500" b="0">
                <a:solidFill>
                  <a:srgbClr val="52514E"/>
                </a:solidFill>
                <a:latin typeface="Arial"/>
              </a:rPr>
              <a:t>die teuersten 10 % (ab 887.000 $)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Unauffälliges Haus (Durchschnittshaus): </a:t>
            </a:r>
            <a:r>
              <a:rPr sz="1500" b="0">
                <a:solidFill>
                  <a:srgbClr val="52514E"/>
                </a:solidFill>
                <a:latin typeface="Arial"/>
              </a:rPr>
              <a:t>kein Wasserzugang, keine besondere Aussicht; Preis, Wohnfläche, Bauqualität und Zustand im mittleren Bereich</a:t>
            </a:r>
          </a:p>
          <a:p>
            <a:pPr algn="l">
              <a:spcAft>
                <a:spcPts val="1000"/>
              </a:spcAft>
            </a:pPr>
            <a:r>
              <a:rPr sz="1500" b="1">
                <a:solidFill>
                  <a:srgbClr val="52514E"/>
                </a:solidFill>
                <a:latin typeface="Arial"/>
              </a:rPr>
              <a:t>Jahreszeiten: </a:t>
            </a:r>
            <a:r>
              <a:rPr sz="1500" b="0">
                <a:solidFill>
                  <a:srgbClr val="52514E"/>
                </a:solidFill>
                <a:latin typeface="Arial"/>
              </a:rPr>
              <a:t>Frühling = März–Mai, Winter = Dezember–Februar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HYPOTHESEN IM ÜBERBLICK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Unsere drei Annahmen halten nur teilweise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0652760" cy="1298448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574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Arial"/>
              </a:rPr>
              <a:t>H1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8424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Im Frühling verkaufen, im Winter kaufen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984248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Gesamtmarkt: ja, Frühling ca. 8 % teurer als Winter. Bei Ihren Top-Häusern im Zentrum gibt es aber keinen Frühlingsaufschlag.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2240280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8A5A00"/>
                </a:solidFill>
                <a:latin typeface="Arial"/>
              </a:rPr>
              <a:t>Teilweise bestätigt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64408"/>
            <a:ext cx="10652760" cy="1298448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5387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Arial"/>
              </a:rPr>
              <a:t>H2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65576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Renovieren vor dem Verkauf steigert den Gewinn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3465576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Bei hochwertigen Häusern ja (bis +67 % pro m²), im Top-Segment im Zentrum aber kein messbarer Aufpreis. Kosten unbekannt.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3721608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8A5A00"/>
                </a:solidFill>
                <a:latin typeface="Arial"/>
              </a:rPr>
              <a:t>Teilweise bestätigt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745736"/>
            <a:ext cx="10652760" cy="1298448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020056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2A78D6"/>
                </a:solidFill>
                <a:latin typeface="Arial"/>
              </a:rPr>
              <a:t>H3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94690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Weiter weg vom Zentrum = günstiger und unauffälliger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4946904"/>
            <a:ext cx="3566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Günstiger: klar ja – am Stadtrand kostet der m² nur die Hälfte. Unauffällig: nur in bestimmten Orten.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5202936"/>
            <a:ext cx="2011680" cy="384048"/>
          </a:xfrm>
          <a:prstGeom prst="roundRect">
            <a:avLst>
              <a:gd name="adj" fmla="val 50000"/>
            </a:avLst>
          </a:prstGeom>
          <a:solidFill>
            <a:srgbClr val="FD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300" b="1">
                <a:solidFill>
                  <a:srgbClr val="8A5A00"/>
                </a:solidFill>
                <a:latin typeface="Arial"/>
              </a:rPr>
              <a:t>Teilweise bestätigt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H1 · 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Der Gesamtmarkt ist im April am teuersten, im Dezember am günstigsten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5</a:t>
            </a:r>
          </a:p>
        </p:txBody>
      </p:sp>
      <p:pic>
        <p:nvPicPr>
          <p:cNvPr id="7" name="Picture 6" descr="01_markt_mo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7680960" cy="357652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828800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011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+8 %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606040"/>
            <a:ext cx="2560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höherer Preis pro m² im Frühling als im Winter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29000"/>
            <a:ext cx="3017520" cy="16916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6118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Fast doppelt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206240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so viele Verkäufe im Frühling wie im Winter – im Winter weniger Konkurrenz beim Kauf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984"/>
                </a:solidFill>
                <a:latin typeface="Arial"/>
              </a:rPr>
              <a:t>Median-Preis pro m² aller Hausverkäufe je Monat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H1 · TIMING FÜR SIE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Für Ihre Häuser: im Herbst nicht verkaufen, im Winter kaufen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Verkauf: Ihre Top-Häuser im Zentrum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6834"/>
                </a:solidFill>
                <a:latin typeface="Arial"/>
              </a:rPr>
              <a:t>Herbst ca. 7 % unter Winter und Frühling</a:t>
            </a:r>
          </a:p>
        </p:txBody>
      </p:sp>
      <p:pic>
        <p:nvPicPr>
          <p:cNvPr id="9" name="Picture 8" descr="02_verkauf_top_zentr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60320"/>
            <a:ext cx="5281788" cy="3611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55080" y="1737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Kauf: Durchschnittshäuser am Stadtrand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Arial"/>
              </a:rPr>
              <a:t>Winter ca. 8 % günstiger als Frühling</a:t>
            </a:r>
          </a:p>
        </p:txBody>
      </p:sp>
      <p:pic>
        <p:nvPicPr>
          <p:cNvPr id="12" name="Picture 11" descr="03_kauf_verst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560320"/>
            <a:ext cx="5141066" cy="3611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H2 · RENOVIERUNG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Renovieren lohnt sich bei hochwertigen Häusern, nicht in Ihrem Top-Segment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7</a:t>
            </a:r>
          </a:p>
        </p:txBody>
      </p:sp>
      <p:pic>
        <p:nvPicPr>
          <p:cNvPr id="7" name="Picture 6" descr="04_renovierung_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6949440" cy="4023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59893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8984"/>
                </a:solidFill>
                <a:latin typeface="Arial"/>
              </a:rPr>
              <a:t>Grade = Bauqualität laut Bewertungsbehörde (1–13); nur Stufen mit mindestens 30 renovierten Häusern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657600" cy="402336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01168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B0B0B"/>
                </a:solidFill>
                <a:latin typeface="Arial"/>
              </a:rPr>
              <a:t>Ihre Top-Häuser im Zentrum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5603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renoviert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8346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2A78D6"/>
                </a:solidFill>
                <a:latin typeface="Arial"/>
              </a:rPr>
              <a:t>4.610 $ / m²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47472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nicht renoviert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749039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52514E"/>
                </a:solidFill>
                <a:latin typeface="Arial"/>
              </a:rPr>
              <a:t>4.558 $ / m²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448056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Arial"/>
              </a:rPr>
              <a:t>Nur ca. +1 % – kein messbarer Unterschied. Die Lage bestimmt hier den Preis.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H3 · LAGE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Je weiter vom Zentrum, desto günstiger – am Stadtrand kostet der m² die Hälfte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8</a:t>
            </a:r>
          </a:p>
        </p:txBody>
      </p:sp>
      <p:pic>
        <p:nvPicPr>
          <p:cNvPr id="7" name="Picture 6" descr="05_entfernu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83080"/>
            <a:ext cx="7680960" cy="3670855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828800"/>
            <a:ext cx="3017520" cy="14173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20116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3.719 $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606040"/>
            <a:ext cx="2560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pro m² im Zentrum (Median)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29000"/>
            <a:ext cx="3017520" cy="169164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361188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1.856 $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4206240"/>
            <a:ext cx="2560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pro m² am Stadtrand – rund 50 % günstiger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486400"/>
            <a:ext cx="7589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A8984"/>
                </a:solidFill>
                <a:latin typeface="Arial"/>
              </a:rPr>
              <a:t>Median-Preis pro m² nach Entfernung zu Downtown Seattle, getrennt nach Norden und Süden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H3 · WO KAUFEN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Hier fallen Sie nicht auf: Snoqualmie und Duvall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9</a:t>
            </a:r>
          </a:p>
        </p:txBody>
      </p:sp>
      <p:pic>
        <p:nvPicPr>
          <p:cNvPr id="7" name="Picture 6" descr="06_ka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00200"/>
            <a:ext cx="5020095" cy="470916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0" y="1828800"/>
          <a:ext cx="60350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34440"/>
                <a:gridCol w="1325880"/>
                <a:gridCol w="118872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Ort (PLZ)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Durchschnitts-</a:t>
                      </a:r>
                    </a:p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häuser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Anteil an allen</a:t>
                      </a:r>
                    </a:p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Häusern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Preis pro m²</a:t>
                      </a:r>
                    </a:p>
                    <a:p>
                      <a:pPr algn="r"/>
                      <a:r>
                        <a:rPr sz="1200" b="1">
                          <a:solidFill>
                            <a:srgbClr val="52514E"/>
                          </a:solidFill>
                          <a:latin typeface="Arial"/>
                        </a:rPr>
                        <a:t>(Median)</a:t>
                      </a:r>
                    </a:p>
                  </a:txBody>
                  <a:tcPr>
                    <a:solidFill>
                      <a:srgbClr val="F3F2E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Snoqualmie (98065)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Arial"/>
                        </a:rPr>
                        <a:t>42 %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2.221 $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Duvall (98019)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2A78D6"/>
                          </a:solidFill>
                          <a:latin typeface="Arial"/>
                        </a:rPr>
                        <a:t>43 %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2.123 $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Maple Valley (98038)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29 %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1.840 $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Covington (98042)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16 %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0B0B0B"/>
                          </a:solidFill>
                          <a:latin typeface="Arial"/>
                        </a:rPr>
                        <a:t>1.714 $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0" y="4754880"/>
            <a:ext cx="6035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Zum Vergleich: Im Zentrum kostet der m² 3.719 $ – in diesen Orten rund 40–55 % weniger.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2514E"/>
                </a:solidFill>
                <a:latin typeface="Arial"/>
              </a:rPr>
              <a:t>Am ganzen Stadtrand sind nur ca. 19 % der Häuser Durchschnittshäuser – der Ort macht den Unterschied.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Vier Empfehlungen für 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57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B683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10312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Arial"/>
              </a:rPr>
              <a:t>Herbst meiden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651760"/>
            <a:ext cx="3977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rial"/>
              </a:rPr>
              <a:t>Top-Häuser im Zentrum gestaffelt im Winter oder Frühling verkaufen. Im Herbst (Sep–Nov) erzielen sie ca. 7 % weniger pro m².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91440" cy="20574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057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EB6834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10312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Arial"/>
              </a:rPr>
              <a:t>Nicht renovieren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651760"/>
            <a:ext cx="3977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rial"/>
              </a:rPr>
              <a:t>Vor dem Verkauf der zentralen Top-Häuser nicht renovieren: kein messbarer Aufpreis – das Geld können Sie sparen.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91440" cy="2057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4343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8912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Arial"/>
              </a:rPr>
              <a:t>Im Winter kaufen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937760"/>
            <a:ext cx="3977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rial"/>
              </a:rPr>
              <a:t>Durchschnittshäuser am Stadtrand im Winter kaufen: ca. 8 % günstiger als im Frühling (Median 366.000 $ statt 400.000 $).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069080"/>
            <a:ext cx="5212080" cy="205740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069080"/>
            <a:ext cx="91440" cy="20574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4343400"/>
            <a:ext cx="548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4389120"/>
            <a:ext cx="3977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0B0B"/>
                </a:solidFill>
                <a:latin typeface="Arial"/>
              </a:rPr>
              <a:t>Snoqualmie &amp; Duvall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937760"/>
            <a:ext cx="3977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Arial"/>
              </a:rPr>
              <a:t>Dort ist mehr als jedes dritte Haus ein Durchschnittshaus. Für mehr Auswahl: Maple Valley.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37160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8A8984"/>
                </a:solidFill>
                <a:latin typeface="Arial"/>
              </a:rPr>
              <a:t>1–2 </a:t>
            </a:r>
            <a:r>
              <a:rPr sz="1100" b="0">
                <a:solidFill>
                  <a:srgbClr val="8A8984"/>
                </a:solidFill>
                <a:latin typeface="Arial"/>
              </a:rPr>
              <a:t>Verkauf    </a:t>
            </a:r>
            <a:r>
              <a:rPr sz="1100" b="1">
                <a:solidFill>
                  <a:srgbClr val="8A8984"/>
                </a:solidFill>
                <a:latin typeface="Arial"/>
              </a:rPr>
              <a:t>3–4 </a:t>
            </a:r>
            <a:r>
              <a:rPr sz="1100" b="0">
                <a:solidFill>
                  <a:srgbClr val="8A8984"/>
                </a:solidFill>
                <a:latin typeface="Arial"/>
              </a:rPr>
              <a:t>Kauf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EINSCHRÄNKUNGEN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Was die Daten nicht zeigen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Nur ein Jahr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81051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Saison und allgemeine Marktentwicklung lassen sich nicht sicher trennen.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Zusammenhang, keine Ursache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7919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Wir sehen, was gemeinsam auftritt – nicht, was den Preis verursacht.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2044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Kosten fehlen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54787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Renovierungskosten und Verkaufsdauer sind nicht in den Daten.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8912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Kleine Gruppen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441655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Top-Häuser im Zentrum: nur 940 Verkäufe, davon 136 im Winter.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5780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B0B0B"/>
                </a:solidFill>
                <a:latin typeface="Arial"/>
              </a:rPr>
              <a:t>Unauffällig ist eine Annahme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5285232"/>
            <a:ext cx="6766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„Durchschnittshaus“ ist unsere Definition, kein Merkmal der Daten.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2A78D6"/>
                </a:solidFill>
                <a:latin typeface="Arial"/>
              </a:rPr>
              <a:t>ANHANG · WEITERE ERKENNTNIS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49808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0B0B0B"/>
                </a:solidFill>
                <a:latin typeface="Arial"/>
              </a:rPr>
              <a:t>Wiederverkaufte Häuser steigen deutlich stärker als der Markt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Quelle: King County Housing Data, 21.597 Hausverkäufe, Mai 2014 – Mai 2015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8A8984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B0B0B"/>
                </a:solidFill>
                <a:latin typeface="Arial"/>
              </a:rPr>
              <a:t>176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Häuser wurden im Jahr zweimal verkauft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2A78D6"/>
                </a:solidFill>
                <a:latin typeface="Arial"/>
              </a:rPr>
              <a:t>+54 %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6060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Preisanstieg im Median nach ca. 6 Monaten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82880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3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52514E"/>
                </a:solidFill>
                <a:latin typeface="Arial"/>
              </a:rPr>
              <a:t>+3 %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606040"/>
            <a:ext cx="2926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2514E"/>
                </a:solidFill>
                <a:latin typeface="Arial"/>
              </a:rPr>
              <a:t>Marktentwicklung im selben Zeitraum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657600"/>
            <a:ext cx="1060704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Die Häuser sind älter (Baujahr-Median 1959 statt 1975) und beim ersten Kauf deutlich günstiger (ca. 262.000 $ statt 450.000 $).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95 % wurden mit Gewinn wiederverkauft – ein Hinweis auf erfolgreiche Renovierungsobjekte.</a:t>
            </a:r>
          </a:p>
          <a:p>
            <a:pPr algn="l">
              <a:spcAft>
                <a:spcPts val="1200"/>
              </a:spcAft>
            </a:pPr>
            <a:r>
              <a:rPr sz="1600" b="0">
                <a:solidFill>
                  <a:srgbClr val="52514E"/>
                </a:solidFill>
                <a:latin typeface="Arial"/>
              </a:rPr>
              <a:t>Einschränkung: Ob renoviert wurde und was es gekostet hat, zeigen die Daten nicht.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