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Begrüßung. Ziel: In 10 Minuten zeigen, wann Sie Ihre zentralen Häuser am besten verkaufen, ob sich eine Renovierung lohnt und wo Sie am Stadtrand günstig und unauffällig kaufen.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Amy verkauft nach und nach mehrere teure Häuser im Zentrum (Top 10 %) und braucht im Gegenzug durchschnittliche Häuser am Stadtrand, in denen sie nicht auffällt. Daraus ergeben sich drei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erklären, worauf die Aussagen beruhen. Die Definitionen sind unsere Annahmen – wichtig, weil Begriffe wie 'zentral' oder 'unauffällig' nicht in den Daten stehen.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Hypothese stimmt nur zum Teil – und genau die Unterschiede sind für Amy wichtig. Details auf den nächsten Folien.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 alle Häuser gesehen steigen die Preise im Frühling deutlich. Der Unterschied ist klein, aber stabil – und er betrifft vor allem Durchschnittshäuser, also genau die Häuser, die Amy kaufen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Wichtigste Erkenntnis zum Timing: Bei den teuren Häusern im Zentrum gibt es keinen Frühlingsbonus – nur der Herbst ist schwächer. Beim Kauf am Stadtrand spart Amy im Winter rund 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Links: Je höher die Bauqualität (Grade), desto größer der Preisvorteil renovierter Häuser. Rechts: Bei Amys Häusern – Top 10 % im Zentrum – bestimmt die Lage den Preis, eine Renovierung bringt keinen messbaren Aufpreis. Kosten der Renovierung kennen wir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Stärkster Zusammenhang der ganzen Analyse. Der Preis pro m² fällt mit der Entfernung, im Norden wie im Süden. Der Süden ist auf gleicher Entfernung grundsätzlich günstiger.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 Stadtrand insgesamt sind Durchschnittshäuser nicht häufiger als anderswo (ca. 19 %). In einigen Orten aber schon: In Snoqualmie und Duvall ist mehr als jedes dritte Haus ein Durchschnittshaus – dort fällt Amy nicht auf. Maple Valley hat die größte Auswahl.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Zusammenfassung als Handlungsplan: Verkaufen – nicht renovieren – im Winter kaufen – in den richtigen Orten kaufen.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Ehrlich bleiben: Die Empfehlungen beruhen auf einem Jahr Daten und auf Zusammenhängen, nicht auf Ursachen.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Zusatzerkenntnis aus der Analyse: 176 Häuser wurden innerhalb eines Jahres zweimal verkauft – meist ältere, günstige Häuser mit großem Preissprung. Typisch für Renovierungsobjekte, die Daten belegen die Renovierung aber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Arial"/>
              </a:rPr>
              <a:t>IMMOBILIENSTRATEGIE KING COUNTY (SEATTLE)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B0B0B"/>
                </a:solidFill>
                <a:latin typeface="Arial"/>
              </a:rPr>
              <a:t>Im Zentrum gut verkaufen,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0B0B0B"/>
                </a:solidFill>
                <a:latin typeface="Arial"/>
              </a:rPr>
              <a:t>am Stadtrand unauffällig wohnen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  <a:latin typeface="Arial"/>
              </a:rPr>
              <a:t>Datenbasierte Empfehlungen für Amy Williams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IHRE AUSGANGSLAGE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Drei Fragen, auf die Sie eine Antwort brauchen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A78D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0B0B"/>
                </a:solidFill>
                <a:latin typeface="Arial"/>
              </a:rPr>
              <a:t>Verkaufen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2514E"/>
                </a:solidFill>
                <a:latin typeface="Arial"/>
              </a:rPr>
              <a:t>Wann verkaufe ich meine Top-Häuser im Zentrum zum besten Preis?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10312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423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A78D6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29184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0B0B"/>
                </a:solidFill>
                <a:latin typeface="Arial"/>
              </a:rPr>
              <a:t>Renovieren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840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2514E"/>
                </a:solidFill>
                <a:latin typeface="Arial"/>
              </a:rPr>
              <a:t>Lohnt es sich, vor dem Verkauf zu renovieren?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10312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423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A78D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0B0B"/>
                </a:solidFill>
                <a:latin typeface="Arial"/>
              </a:rPr>
              <a:t>Kaufen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2514E"/>
                </a:solidFill>
                <a:latin typeface="Arial"/>
              </a:rPr>
              <a:t>Wo und wann finde ich günstige, unauffällige Häuser am Stadtrand?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DATEN UND ANNAHMEN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Grundlage: über 21.000 Hausverkäufe aus einem Jahr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840480" cy="132588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21.597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Hausverkäufe in King County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3840480" cy="132588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12 Monate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Mai 2014 bis Mai 2015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00600"/>
            <a:ext cx="3840480" cy="132588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834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Preis pro 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778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als faire Vergleichsgröße zwischen Häusern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Unsere Annahmen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649224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Zentrum: </a:t>
            </a:r>
            <a:r>
              <a:rPr sz="1500" b="0">
                <a:solidFill>
                  <a:srgbClr val="52514E"/>
                </a:solidFill>
                <a:latin typeface="Arial"/>
              </a:rPr>
              <a:t>Downtown Seattle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Zentral: </a:t>
            </a:r>
            <a:r>
              <a:rPr sz="1500" b="0">
                <a:solidFill>
                  <a:srgbClr val="52514E"/>
                </a:solidFill>
                <a:latin typeface="Arial"/>
              </a:rPr>
              <a:t>die 25 % der Häuser, die am nächsten am Zentrum liegen (bis ca. 10 km)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Randlage: </a:t>
            </a:r>
            <a:r>
              <a:rPr sz="1500" b="0">
                <a:solidFill>
                  <a:srgbClr val="52514E"/>
                </a:solidFill>
                <a:latin typeface="Arial"/>
              </a:rPr>
              <a:t>die 25 % der Häuser, die am weitesten entfernt liegen (ab ca. 25 km)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Top-Häuser: </a:t>
            </a:r>
            <a:r>
              <a:rPr sz="1500" b="0">
                <a:solidFill>
                  <a:srgbClr val="52514E"/>
                </a:solidFill>
                <a:latin typeface="Arial"/>
              </a:rPr>
              <a:t>die teuersten 10 % (ab 887.000 $)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Unauffälliges Haus (Durchschnittshaus): </a:t>
            </a:r>
            <a:r>
              <a:rPr sz="1500" b="0">
                <a:solidFill>
                  <a:srgbClr val="52514E"/>
                </a:solidFill>
                <a:latin typeface="Arial"/>
              </a:rPr>
              <a:t>kein Wasserzugang, keine besondere Aussicht; Preis, Wohnfläche, Bauqualität und Zustand im mittleren Bereich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2514E"/>
                </a:solidFill>
                <a:latin typeface="Arial"/>
              </a:rPr>
              <a:t>Jahreszeiten: </a:t>
            </a:r>
            <a:r>
              <a:rPr sz="1500" b="0">
                <a:solidFill>
                  <a:srgbClr val="52514E"/>
                </a:solidFill>
                <a:latin typeface="Arial"/>
              </a:rPr>
              <a:t>Frühling = März–Mai, Winter = Dezember–Februar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HYPOTHESEN IM 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Unsere drei Annahmen halten nur teilweise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0652760" cy="1298448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2A78D6"/>
                </a:solidFill>
                <a:latin typeface="Arial"/>
              </a:rPr>
              <a:t>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84248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Im Frühling verkaufen, im Winter kaufen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984248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Gesamtmarkt: ja, Frühling ca. 8 % teurer als Winter. Bei Ihren Top-Häusern im Zentrum gibt es aber keinen Frühlingsaufschlag.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224028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8A5A00"/>
                </a:solidFill>
                <a:latin typeface="Arial"/>
              </a:rPr>
              <a:t>Teilweise bestätigt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64408"/>
            <a:ext cx="10652760" cy="1298448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38728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2A78D6"/>
                </a:solidFill>
                <a:latin typeface="Arial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465576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Renovieren vor dem Verkauf steigert den Gewinn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465576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Bei hochwertigen Häusern ja (bis +67 % pro m²), im Top-Segment im Zentrum aber kein messbarer Aufpreis. Kosten unbekannt.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721608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8A5A00"/>
                </a:solidFill>
                <a:latin typeface="Arial"/>
              </a:rPr>
              <a:t>Teilweise bestätigt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745736"/>
            <a:ext cx="10652760" cy="1298448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20056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2A78D6"/>
                </a:solidFill>
                <a:latin typeface="Arial"/>
              </a:rP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46904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Weiter weg vom Zentrum = günstiger und unauffälliger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4690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Günstiger: klar ja – am Stadtrand kostet der m² nur die Hälfte. Unauffällig: nur in bestimmten Orten.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52029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8A5A00"/>
                </a:solidFill>
                <a:latin typeface="Arial"/>
              </a:rPr>
              <a:t>Teilweise bestätigt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H1 ·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Der Gesamtmarkt ist im April am teuersten, im Dezember am günstigsten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5</a:t>
            </a:r>
          </a:p>
        </p:txBody>
      </p:sp>
      <p:pic>
        <p:nvPicPr>
          <p:cNvPr id="7" name="Picture 6" descr="01_markt_mon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7680960" cy="357652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1828800"/>
            <a:ext cx="3017520" cy="14173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20116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+8 %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2606040"/>
            <a:ext cx="2560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höherer Preis pro m² im Frühling als im Winter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429000"/>
            <a:ext cx="3017520" cy="16916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36118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Arial"/>
              </a:rPr>
              <a:t>Fast doppelt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4206240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so viele Verkäufe im Frühling wie im Winter – im Winter weniger Konkurrenz beim Kauf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984"/>
                </a:solidFill>
                <a:latin typeface="Arial"/>
              </a:rPr>
              <a:t>Median-Preis pro m² aller Hausverkäufe je Monat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H1 · TIMING FÜR SIE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Für Ihre Häuser: im Herbst nicht verkaufen, im Winter kaufen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Verkauf: Ihre Top-Häuser im Zentrum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Arial"/>
              </a:rPr>
              <a:t>Herbst ca. 7 % unter Winter und Frühling</a:t>
            </a:r>
          </a:p>
        </p:txBody>
      </p:sp>
      <p:pic>
        <p:nvPicPr>
          <p:cNvPr id="9" name="Picture 8" descr="02_verkauf_top_zent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5281788" cy="3611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1737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Kauf: Durchschnittshäuser am Stadtrand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Arial"/>
              </a:rPr>
              <a:t>Winter ca. 8 % günstiger als Frühling</a:t>
            </a:r>
          </a:p>
        </p:txBody>
      </p:sp>
      <p:pic>
        <p:nvPicPr>
          <p:cNvPr id="12" name="Picture 11" descr="03_kauf_verst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560320"/>
            <a:ext cx="514106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H2 · RENOVIERUNG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Renovieren lohnt sich bei hochwertigen Häusern, nicht in Ihrem Top-Segment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7</a:t>
            </a:r>
          </a:p>
        </p:txBody>
      </p:sp>
      <p:pic>
        <p:nvPicPr>
          <p:cNvPr id="7" name="Picture 6" descr="04_renovierung_g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694944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98932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A8984"/>
                </a:solidFill>
                <a:latin typeface="Arial"/>
              </a:rPr>
              <a:t>Grade = Bauqualität laut Bewertungsbehörde (1–13); nur Stufen mit mindestens 30 renovierten Häusern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657600" cy="402336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011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Ihre Top-Häuser im Zentrum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5603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renoviert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346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A78D6"/>
                </a:solidFill>
                <a:latin typeface="Arial"/>
              </a:rPr>
              <a:t>4.610 $ / 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4747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nicht renoviert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2514E"/>
                </a:solidFill>
                <a:latin typeface="Arial"/>
              </a:rPr>
              <a:t>4.558 $ / 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48056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Nur ca. +1 % – kein messbarer Unterschied. Die Lage bestimmt hier den Preis.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H3 · 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Je weiter vom Zentrum, desto günstiger – am Stadtrand kostet der m² die Hälfte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05_entfern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7680960" cy="36708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1828800"/>
            <a:ext cx="3017520" cy="14173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20116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Arial"/>
              </a:rPr>
              <a:t>3.719 $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2606040"/>
            <a:ext cx="2560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pro m² im Zentrum (Median)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429000"/>
            <a:ext cx="3017520" cy="16916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36118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1.856 $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4206240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pro m² am Stadtrand – rund 50 % günstiger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984"/>
                </a:solidFill>
                <a:latin typeface="Arial"/>
              </a:rPr>
              <a:t>Median-Preis pro m² nach Entfernung zu Downtown Seattle, getrennt nach Norden und Süden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H3 · WO KAUFEN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Hier fallen Sie nicht auf: Snoqualmie und Duvall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06_ka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5020095" cy="4709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0" y="1828800"/>
          <a:ext cx="6035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34440"/>
                <a:gridCol w="1325880"/>
                <a:gridCol w="118872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Ort (PLZ)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Durchschnitts-</a:t>
                      </a:r>
                    </a:p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häuser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Anteil an allen</a:t>
                      </a:r>
                    </a:p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Häusern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Preis pro m²</a:t>
                      </a:r>
                    </a:p>
                    <a:p>
                      <a:pPr algn="r"/>
                      <a:r>
                        <a:rPr sz="1200" b="1">
                          <a:solidFill>
                            <a:srgbClr val="52514E"/>
                          </a:solidFill>
                          <a:latin typeface="Arial"/>
                        </a:rPr>
                        <a:t>(Median)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Snoqualmie (98065)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2A78D6"/>
                          </a:solidFill>
                          <a:latin typeface="Arial"/>
                        </a:rPr>
                        <a:t>42 %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2.221 $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Duvall (98019)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2A78D6"/>
                          </a:solidFill>
                          <a:latin typeface="Arial"/>
                        </a:rPr>
                        <a:t>43 %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2.123 $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Maple Valley (98038)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1.840 $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Covington (98042)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1.714 $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4754880"/>
            <a:ext cx="6035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Zum Vergleich: Im Zentrum kostet der m² 3.719 $ – in diesen Orten rund 40–55 % weniger.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Am ganzen Stadtrand sind nur ca. 19 % der Häuser Durchschnittshäuser – der Ort macht den Unterschied.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EMPFEHLUNGEN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Vier Empfehlungen für 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57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B6834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03120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0B0B"/>
                </a:solidFill>
                <a:latin typeface="Arial"/>
              </a:rPr>
              <a:t>Herbst meiden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651760"/>
            <a:ext cx="3977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Arial"/>
              </a:rPr>
              <a:t>Top-Häuser im Zentrum gestaffelt im Winter oder Frühling verkaufen. Im Herbst (Sep–Nov) erzielen sie ca. 7 % weniger pro m².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91440" cy="2057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B6834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103120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0B0B"/>
                </a:solidFill>
                <a:latin typeface="Arial"/>
              </a:rPr>
              <a:t>Nicht renovieren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651760"/>
            <a:ext cx="3977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Arial"/>
              </a:rPr>
              <a:t>Vor dem Verkauf der zentralen Top-Häuser nicht renovieren: kein messbarer Aufpreis – das Geld können Sie sparen.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57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343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389120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0B0B"/>
                </a:solidFill>
                <a:latin typeface="Arial"/>
              </a:rPr>
              <a:t>Im Winter kaufen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37760"/>
            <a:ext cx="3977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Arial"/>
              </a:rPr>
              <a:t>Durchschnittshäuser am Stadtrand im Winter kaufen: ca. 8 % günstiger als im Frühling (Median 366.000 $ statt 400.000 $).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6908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69080"/>
            <a:ext cx="91440" cy="2057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343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389120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0B0B"/>
                </a:solidFill>
                <a:latin typeface="Arial"/>
              </a:rPr>
              <a:t>Snoqualmie &amp; Duvall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937760"/>
            <a:ext cx="3977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Arial"/>
              </a:rPr>
              <a:t>Dort ist mehr als jedes dritte Haus ein Durchschnittshaus. Für mehr Auswahl: Maple Valley.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1371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A8984"/>
                </a:solidFill>
                <a:latin typeface="Arial"/>
              </a:rPr>
              <a:t>1–2 </a:t>
            </a:r>
            <a:r>
              <a:rPr sz="1100" b="0">
                <a:solidFill>
                  <a:srgbClr val="8A8984"/>
                </a:solidFill>
                <a:latin typeface="Arial"/>
              </a:rPr>
              <a:t>Verkauf    </a:t>
            </a:r>
            <a:r>
              <a:rPr sz="1100" b="1">
                <a:solidFill>
                  <a:srgbClr val="8A8984"/>
                </a:solidFill>
                <a:latin typeface="Arial"/>
              </a:rPr>
              <a:t>3–4 </a:t>
            </a:r>
            <a:r>
              <a:rPr sz="1100" b="0">
                <a:solidFill>
                  <a:srgbClr val="8A8984"/>
                </a:solidFill>
                <a:latin typeface="Arial"/>
              </a:rPr>
              <a:t>Kauf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EINSCHRÄNKUNGEN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Was die Daten nicht zeigen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Nur ein Jahr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81051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Saison und allgemeine Marktentwicklung lassen sich nicht sicher trennen.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Zusammenhang, keine Ursache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7919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Wir sehen, was gemeinsam auftritt – nicht, was den Preis verursacht.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2044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Kosten fehlen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47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Renovierungskosten und Verkaufsdauer sind nicht in den Daten.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8912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Kleine Gruppen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41655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Top-Häuser im Zentrum: nur 940 Verkäufe, davon 136 im Winter.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5780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Unauffällig ist eine Annahme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28523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„Durchschnittshaus“ ist unsere Definition, kein Merkmal der Daten.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ANHANG · WEITERE ERKENNTNIS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Wiederverkaufte Häuser steigen deutlich stärker als der Markt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Quelle: King County Housing Data, 21.597 Hausverkäufe, Mai 2014 – Mai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A8984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Arial"/>
              </a:rPr>
              <a:t>176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Häuser wurden im Jahr zweimal verkauft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Arial"/>
              </a:rPr>
              <a:t>+54 %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060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Preisanstieg im Median nach ca. 6 Monaten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82880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52514E"/>
                </a:solidFill>
                <a:latin typeface="Arial"/>
              </a:rPr>
              <a:t>+3 %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060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Marktentwicklung im selben Zeitraum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57600"/>
            <a:ext cx="10607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Die Häuser sind älter (Baujahr-Median 1959 statt 1975) und beim ersten Kauf deutlich günstiger (ca. 262.000 $ statt 450.000 $).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95 % wurden mit Gewinn wiederverkauft – ein Hinweis auf erfolgreiche Renovierungsobjekte.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Einschränkung: Ob renoviert wurde und was es gekostet hat, zeigen die Daten nicht.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